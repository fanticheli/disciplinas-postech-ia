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BF8F00-61FE-4AD3-A442-58FDCB3F316B}">
  <a:tblStyle styleId="{28BF8F00-61FE-4AD3-A442-58FDCB3F31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39" Type="http://schemas.openxmlformats.org/officeDocument/2006/relationships/font" Target="fonts/Lato-bold.fntdata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34" Type="http://schemas.openxmlformats.org/officeDocument/2006/relationships/font" Target="fonts/Raleway-regular.fntdata"/><Relationship Id="rId42" Type="http://schemas.openxmlformats.org/officeDocument/2006/relationships/customXml" Target="../customXml/item1.xml"/><Relationship Id="rId7" Type="http://schemas.openxmlformats.org/officeDocument/2006/relationships/slide" Target="slides/slide1.xml"/><Relationship Id="rId20" Type="http://schemas.openxmlformats.org/officeDocument/2006/relationships/slide" Target="slides/slide14.xml"/><Relationship Id="rId41" Type="http://schemas.openxmlformats.org/officeDocument/2006/relationships/font" Target="fonts/Lato-boldItalic.fntdata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font" Target="fonts/Lato-italic.fntdata"/><Relationship Id="rId24" Type="http://schemas.openxmlformats.org/officeDocument/2006/relationships/slide" Target="slides/slide18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font" Target="fonts/Raleway-boldItalic.fntdata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36" Type="http://schemas.openxmlformats.org/officeDocument/2006/relationships/font" Target="fonts/Raleway-italic.fntdata"/><Relationship Id="rId31" Type="http://schemas.openxmlformats.org/officeDocument/2006/relationships/slide" Target="slides/slide2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4" Type="http://schemas.openxmlformats.org/officeDocument/2006/relationships/customXml" Target="../customXml/item3.xml"/><Relationship Id="rId22" Type="http://schemas.openxmlformats.org/officeDocument/2006/relationships/slide" Target="slides/slide16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Raleway-bold.fntdata"/><Relationship Id="rId14" Type="http://schemas.openxmlformats.org/officeDocument/2006/relationships/slide" Target="slides/slide8.xml"/><Relationship Id="rId43" Type="http://schemas.openxmlformats.org/officeDocument/2006/relationships/customXml" Target="../customXml/item2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bd9908c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bd9908c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46519b7b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46519b7b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814aab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814aab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dda294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4dda294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814aab1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814aab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814aab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3814aab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4dda294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4dda294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4dda294d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4dda294d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4dda294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4dda294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3814aab1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3814aab1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814aab1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3814aab1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3814aab1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3814aab1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3814aab1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3814aab1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3814aab1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3814aab1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3814aab1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3814aab1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3814aab1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3814aab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814aab1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3814aab1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4dda294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4dda294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3814aab1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3814aab1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3814aab1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3814aab1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6519b7b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46519b7b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46519b7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46519b7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3814aab1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3814aab1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814aab1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3814aab1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46519b7b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46519b7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46519b7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46519b7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reuters.com/legal/litigation/new-york-times-led-group-asks-court-sanction-openai-us-copyright-dispute-2026-07-09/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tificialintelligenceact.eu/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cnnbrasil.com.br/politica/geopolitica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apers.ssrn.com/sol3/papers.cfm?abstract_id=2770634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25.senado.leg.br/web/atividade/materias/-/materia/157233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53628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Gerenciamento de Riscos em Inteligência Artificial - Aspectos Regulatórios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7923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J</a:t>
            </a:r>
            <a:r>
              <a:rPr lang="en"/>
              <a:t>éssica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Primeiro de Tudo: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regular?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724950" y="4372550"/>
            <a:ext cx="54615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https://www.reuters.com/legal/litigation/new-york-times-led-group-asks-court-sanction-openai-us-copyright-dispute-2026-07-09/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50" y="145100"/>
            <a:ext cx="5280660" cy="40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5758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riscos de IA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5758500" cy="26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Desinformação e Vieses: </a:t>
            </a:r>
            <a:r>
              <a:rPr lang="en"/>
              <a:t>Criação de conteúdos falsos realistas (deepfakes) e reprodução de preconceitos históricos (gênero, raça) em decisões automatizadas.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Impacto no Emprego: </a:t>
            </a:r>
            <a:r>
              <a:rPr lang="en"/>
              <a:t>Substituição rápida de postos de trabalho e risco de desemprego estrutural antes da requalificação dos profissionais.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Privacidade e Segurança: </a:t>
            </a:r>
            <a:r>
              <a:rPr lang="en"/>
              <a:t>Uso indevido de dados pessoais para treinamento de modelos e automação de ciberataques mais sofisticados.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Alucinaç</a:t>
            </a:r>
            <a:r>
              <a:rPr b="1" lang="en"/>
              <a:t>ões e Decisões não Explicáveis:</a:t>
            </a:r>
            <a:r>
              <a:rPr lang="en"/>
              <a:t> Ocorrência de informações falsas geradas com convicção (alucinações) e a dificuldade de entender como a IA tomou uma decisão complexa.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22450"/>
            <a:ext cx="49692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requer equipes multidisciplinares na discuss</a:t>
            </a:r>
            <a:r>
              <a:rPr lang="en"/>
              <a:t>ão para enxergar todos os aspectos do tema.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Dilema de Collingridge e os Desafios de Regulação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30000" y="2957050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Dilema de Collingridge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29450" y="2078875"/>
            <a:ext cx="561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 Paradoxo do Controle Tecnológico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Fase Inicial (Facilidade de Mudança): </a:t>
            </a:r>
            <a:r>
              <a:rPr lang="en"/>
              <a:t>Quando a IA é nova, é simples alterar seu curso técnico. No entanto, faltam dados e percepção clara sobre seus impactos futuros na sociedade.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Fase Avançada (Falta de Controle): </a:t>
            </a:r>
            <a:r>
              <a:rPr lang="en"/>
              <a:t>Quando os impactos e riscos tornam-se evidentes, a tecnologia já está de tal forma integrada à infraestrutura social que qualquer mudança exige custos proibitivos.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729450" y="2078875"/>
            <a:ext cx="52452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Indústria (Big Techs e Empresas Operacionais)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Governos (Reguladores e Agências Públicas)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Produtores de Conteúdo (Artistas, Jornalistas e Autores)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Sociedade em Geral (Cidadãos e ONGs)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Comunidade Acadêmica e Científica (Pesquisadores)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Sindicatos e Trabalhadores (A Força de Trabalho)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Comunidade de Cibersegurança 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O Poder Judiciário e Profissionais do Direito</a:t>
            </a:r>
            <a:endParaRPr sz="2361">
              <a:solidFill>
                <a:srgbClr val="666666"/>
              </a:solidFill>
            </a:endParaRPr>
          </a:p>
          <a:p>
            <a:pPr indent="-322285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61">
                <a:solidFill>
                  <a:srgbClr val="666666"/>
                </a:solidFill>
              </a:rPr>
              <a:t>Investidores e Venture Capital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Lobby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729450" y="2078875"/>
            <a:ext cx="450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Lobby (ou lobbying) é a prática de influenciar decisões de agentes públicos em favor de um interesse específico.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Geralmente é realizado por representantes de empresas, indústrias, sindicatos ou ONGs junto a deputados, senadores e ministros para moldar leis e regulamentações.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Defesa Legítima X Tráfico de Influência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pensar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729450" y="2078875"/>
            <a:ext cx="450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600"/>
              <a:t>"Se uma empresa vai às redes dizer que está preocupada com o futuro da humanidade, mas se reúne às escondidas com políticos para mudar as leis e garantir que ela continue lucrando sem ser fiscalizada, ela está fazendo defesa legítima da inovação ou tráfico de influência nos bastidores?"</a:t>
            </a:r>
            <a:endParaRPr b="1" i="1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Regulaç</a:t>
            </a:r>
            <a:r>
              <a:rPr lang="en"/>
              <a:t>ão e  o Modelo EU AI Act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730000" y="2957050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9450" y="1318650"/>
            <a:ext cx="5619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Regulaç</a:t>
            </a:r>
            <a:r>
              <a:rPr lang="en"/>
              <a:t>ão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29450" y="2078875"/>
            <a:ext cx="5619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Regulação Baseada em Princípios (Soft Law / Flexível)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 vez de ditar regras ou restrições técnicas específicas, o regulador estabelece diretrizes éticas, valores e objetivos macro que os desenvolvedores devem seguir.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Regulação Baseada em Regras (Hard Law / Rígida)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 regulador cria obrigações legais claras, prescritivas, com limites bem definidos e penalidades severas em caso de descumprimento.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568725" y="1318650"/>
            <a:ext cx="7849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Tabela Comparativa</a:t>
            </a:r>
            <a:endParaRPr/>
          </a:p>
        </p:txBody>
      </p:sp>
      <p:graphicFrame>
        <p:nvGraphicFramePr>
          <p:cNvPr id="157" name="Google Shape;157;p25"/>
          <p:cNvGraphicFramePr/>
          <p:nvPr/>
        </p:nvGraphicFramePr>
        <p:xfrm>
          <a:off x="568725" y="192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{28BF8F00-61FE-4AD3-A442-58FDCB3F316B}</a:tableStyleId>
              </a:tblPr>
              <a:tblGrid>
                <a:gridCol w="1411325"/>
                <a:gridCol w="2591950"/>
                <a:gridCol w="2402800"/>
              </a:tblGrid>
              <a:tr h="27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Critério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Regulação por Princípios (Soft Law)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Regulação por Regras (Hard Law)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Foco principal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Intenção, valores e governança ética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Limites técnicos, proibições e conformidade escriturária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Velocidade de Adaptação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 (Não precisa mudar a lei quando a tecnologia muda)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Baixa (Exige revisões legislativas lentas para novos cenários)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Clareza para o Desenvolvedor</a:t>
                      </a:r>
                      <a:endParaRPr b="1"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Baixa (Exige interpretação de conceitos abstratos)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 (Diz exatamente o que fazer, ex: "guardar logs por X meses")</a:t>
                      </a:r>
                      <a:endParaRPr sz="1200">
                        <a:solidFill>
                          <a:srgbClr val="43434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 AI Act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29450" y="2078875"/>
            <a:ext cx="5260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 </a:t>
            </a:r>
            <a:r>
              <a:rPr b="1" lang="en"/>
              <a:t>EU AI Act </a:t>
            </a:r>
            <a:r>
              <a:rPr lang="en"/>
              <a:t>(aprovado em 2024 e com aplicação prática consolidada entre 2025 e 2026) é a primeira legislação abrangente sobre Inteligência Artificial do mundo. Sua principal característica é a abordagem baseada em risco: a lei não regula a tecnologia de IA em si, mas sim o caso de uso e o impacto que ele pode causar na sociedade.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24950" y="4372550"/>
            <a:ext cx="50979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https://artificialintelligenceact.eu/</a:t>
            </a:r>
            <a:r>
              <a:rPr lang="en"/>
              <a:t> 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50" y="482200"/>
            <a:ext cx="5925725" cy="378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729450" y="1318650"/>
            <a:ext cx="6123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Quatro Categorias de Risco 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729450" y="2078875"/>
            <a:ext cx="5613600" cy="27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Risco Inaceitável: </a:t>
            </a:r>
            <a:r>
              <a:rPr lang="en" sz="1500"/>
              <a:t>Práticas proibidas (ex: crédito social governamental, manipulação comportamental subliminar).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Alto Risco: </a:t>
            </a:r>
            <a:r>
              <a:rPr lang="en" sz="1500"/>
              <a:t>Exige auditoria pesada e conformidade técnica (ex: IA em infraestrutura crítica, medicina, RH/recrutamento automatizado, biometria).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Risco Limitado: </a:t>
            </a:r>
            <a:r>
              <a:rPr lang="en" sz="1500"/>
              <a:t>Exige transparência (ex: chatbots precisam avisar que são IAs, deepfakes precisam ser rotulados).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Risco Mínimo: </a:t>
            </a:r>
            <a:r>
              <a:rPr lang="en" sz="1500"/>
              <a:t>Livre de obrigações adicionais (ex: filtros de spam, IA de jogos).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Panorama Global e o Cenário Brasileiro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730000" y="2957050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</a:t>
            </a:r>
            <a:r>
              <a:rPr lang="en"/>
              <a:t>é Geopolítica?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729450" y="2078875"/>
            <a:ext cx="5613600" cy="24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“Geopolítica é um ramo da ciência que aborda a relação entre a geografia, acontecimentos históricos e políticos, com o objetivo de interpretar fenômenos globais.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Para isso, a área estuda temas como guerras, movimentos migratórios e acordos entre países, por exemplo.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A ideia é entender como os humanos interagem com seu ambiente, considerando as relações de poder, para então compreender suas posições políticas e impactos das ações a nível global.”</a:t>
            </a:r>
            <a:endParaRPr sz="1500"/>
          </a:p>
        </p:txBody>
      </p:sp>
      <p:sp>
        <p:nvSpPr>
          <p:cNvPr id="188" name="Google Shape;188;p30"/>
          <p:cNvSpPr txBox="1"/>
          <p:nvPr/>
        </p:nvSpPr>
        <p:spPr>
          <a:xfrm>
            <a:off x="1616025" y="4498925"/>
            <a:ext cx="4353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Fonte: </a:t>
            </a: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https://www.cnnbrasil.com.br/politica/geopolitica/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Tabuleiro Geopolítico da IA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729450" y="2078875"/>
            <a:ext cx="5613600" cy="27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IA não é apenas uma revolução técnica, mas uma disputa de poder global.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Três Visões de Mundo: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Estados Unidos:</a:t>
            </a:r>
            <a:r>
              <a:rPr lang="en" sz="1500"/>
              <a:t> Foco no mercado, capital de risco e inovação veloz.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China: </a:t>
            </a:r>
            <a:r>
              <a:rPr lang="en" sz="1500"/>
              <a:t>Foco no controle estatal, soberania e segurança nacional.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União Europeia: </a:t>
            </a:r>
            <a:r>
              <a:rPr lang="en" sz="1500"/>
              <a:t>Foco nos direitos fundamentais e mitigação de riscos sociais.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o "Efeito Bruxelas"?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729450" y="2078875"/>
            <a:ext cx="5613600" cy="27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Conceito Central: </a:t>
            </a:r>
            <a:r>
              <a:rPr lang="en" sz="1500"/>
              <a:t>Fenômeno pelo qual a União Europeia dita as regras do mercado global de forma unilateral através de suas leis internas.</a:t>
            </a:r>
            <a:br>
              <a:rPr lang="en" sz="1500"/>
            </a:b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Mecanismo de Força: </a:t>
            </a:r>
            <a:r>
              <a:rPr lang="en" sz="1500"/>
              <a:t>Não depende de diplomacia ou sanções, mas sim da pura lógica de mercado.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Referência:</a:t>
            </a:r>
            <a:r>
              <a:rPr lang="en" sz="1500"/>
              <a:t> Teoria cunhada pela Profa. Anu Bradford (Columbia Law School).</a:t>
            </a:r>
            <a:br>
              <a:rPr lang="en" sz="1500"/>
            </a:br>
            <a:r>
              <a:rPr lang="en" sz="1500" u="sng">
                <a:solidFill>
                  <a:schemeClr val="hlink"/>
                </a:solidFill>
                <a:hlinkClick r:id="rId3"/>
              </a:rPr>
              <a:t>https://papers.ssrn.com/sol3/papers.cfm?abstract_id=2770634</a:t>
            </a: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729450" y="1318650"/>
            <a:ext cx="4903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as Big Techs Obedecem?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729450" y="1928825"/>
            <a:ext cx="52689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Inviabilidade da Linha Dupla: </a:t>
            </a:r>
            <a:r>
              <a:rPr lang="en"/>
              <a:t>Desenvolver duas arquiteturas de IA (uma transparente para a Europa e outra opaca para o resto do mundo) é economicamente proibitivo para a engenharia.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A Opção do Padrão Único:</a:t>
            </a:r>
            <a:r>
              <a:rPr lang="en"/>
              <a:t> Para cortar custos de manutenção e mitigar riscos legais, as empresas elevam a barra técnica de seus sistemas globais para o padrão europeu.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O Vácuo Regulatório: </a:t>
            </a:r>
            <a:r>
              <a:rPr lang="en"/>
              <a:t>Como a UE se move primeiro (ex: EU AI Act), suas leis viram o modelo de cópia para o resto do mundo (como o PL 2338 no Brasil).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729450" y="1318650"/>
            <a:ext cx="4903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j</a:t>
            </a:r>
            <a:r>
              <a:rPr lang="en"/>
              <a:t>á temos no Brasil</a:t>
            </a:r>
            <a:r>
              <a:rPr lang="en"/>
              <a:t>?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729450" y="1928825"/>
            <a:ext cx="56922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926" lvl="0" marL="457200" rtl="0" algn="l">
              <a:spcBef>
                <a:spcPts val="0"/>
              </a:spcBef>
              <a:spcAft>
                <a:spcPts val="0"/>
              </a:spcAft>
              <a:buSzPts val="1108"/>
              <a:buChar char="●"/>
            </a:pPr>
            <a:r>
              <a:rPr b="1" lang="en" sz="1108"/>
              <a:t>LGPD (Lei nº 13.709/2018): </a:t>
            </a:r>
            <a:r>
              <a:rPr lang="en" sz="1108"/>
              <a:t>É a principal norma brasileira que impacta a IA. Ela garante, por exemplo, o direito de revisão humana para decisões tomadas exclusivamente por algoritmos e exige transparência no tratamento de dados pessoais.</a:t>
            </a:r>
            <a:br>
              <a:rPr lang="en" sz="1108"/>
            </a:br>
            <a:endParaRPr sz="1108"/>
          </a:p>
          <a:p>
            <a:pPr indent="-298926" lvl="0" marL="457200" rtl="0" algn="l">
              <a:spcBef>
                <a:spcPts val="0"/>
              </a:spcBef>
              <a:spcAft>
                <a:spcPts val="0"/>
              </a:spcAft>
              <a:buSzPts val="1108"/>
              <a:buChar char="●"/>
            </a:pPr>
            <a:r>
              <a:rPr b="1" lang="en" sz="1108"/>
              <a:t>Resoluções do TSE para Eleições: </a:t>
            </a:r>
            <a:r>
              <a:rPr lang="en" sz="1108"/>
              <a:t>O Tribunal Superior Eleitoral (TSE) possui regras rígidas para o pleito, exigindo identificação clara de conteúdos sintéticos (deepfakes) ou gerados por IA em propagandas eleitorais e limitando o uso de robôs na campanha.</a:t>
            </a:r>
            <a:br>
              <a:rPr lang="en" sz="1108"/>
            </a:br>
            <a:endParaRPr sz="1108"/>
          </a:p>
          <a:p>
            <a:pPr indent="-298926" lvl="0" marL="457200" rtl="0" algn="l">
              <a:spcBef>
                <a:spcPts val="0"/>
              </a:spcBef>
              <a:spcAft>
                <a:spcPts val="0"/>
              </a:spcAft>
              <a:buSzPts val="1108"/>
              <a:buChar char="●"/>
            </a:pPr>
            <a:r>
              <a:rPr b="1" lang="en" sz="1108"/>
              <a:t>ECA Digital (Lei nº 15.211/2025): </a:t>
            </a:r>
            <a:r>
              <a:rPr lang="en" sz="1108"/>
              <a:t>Protege a infância no ambiente virtual ao proibir o perfilamento algorítmico e o direcionamento de anúncios para menores, impondo prazo de 24 horas para a remoção automatizada de conteúdos nocivos e responsabilizando as plataformas por danos gerados por seus sistemas de recomendação.</a:t>
            </a:r>
            <a:endParaRPr sz="110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de Lei nº 2338 de 2023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729450" y="2078875"/>
            <a:ext cx="5637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Centralidade na Pessoa Humana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Classificação de Riscos (Inspirado no Modelo Europeu)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Direitos dos Cidadãos Afetados pela 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Direitos Autorais e Treinamento de Modelos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Onde consultar?</a:t>
            </a:r>
            <a:br>
              <a:rPr b="1" lang="en"/>
            </a:br>
            <a:br>
              <a:rPr b="1" lang="en"/>
            </a:br>
            <a:r>
              <a:rPr b="1" lang="en" u="sng">
                <a:solidFill>
                  <a:schemeClr val="hlink"/>
                </a:solidFill>
                <a:hlinkClick r:id="rId3"/>
              </a:rPr>
              <a:t>https://www25.senado.leg.br/web/atividade/materias/-/materia/157233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 Responsável na Prática de Engenharia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730000" y="2957050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e M</a:t>
            </a:r>
            <a:r>
              <a:rPr lang="en"/>
              <a:t>étricas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729450" y="2078875"/>
            <a:ext cx="5292300" cy="29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Explainable AI (XAI): </a:t>
            </a:r>
            <a:r>
              <a:rPr lang="en" sz="1500"/>
              <a:t>Uso de SHAP e LIME para abrir a "caixa-preta" de modelos tradicionais e LLMs.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Detecção de Viés: </a:t>
            </a:r>
            <a:r>
              <a:rPr lang="en" sz="1500"/>
              <a:t>Avaliação de métricas de justiça (fairness metrics) em datasets de treino.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Linhagem de Dados: </a:t>
            </a:r>
            <a:r>
              <a:rPr lang="en" sz="1500"/>
              <a:t>Rastreabilidade de dados para auditoria de direitos autorais e conformidade de privacidade.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729450" y="733950"/>
            <a:ext cx="48963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E além da parte técnica?</a:t>
            </a:r>
            <a:endParaRPr sz="5000"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688850" y="2571750"/>
            <a:ext cx="53706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Exercer  mentalidade cr</a:t>
            </a:r>
            <a:r>
              <a:rPr lang="en"/>
              <a:t>ítica e buscando as fontes originais das propostas, analisando prós e contras e principalmente analisando o cenário atual, tanto nacional como internacional.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Em todos os lados existem interesses.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</a:t>
            </a:r>
            <a:r>
              <a:rPr lang="en"/>
              <a:t>é Próxima Aula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54" ma:contentTypeDescription="Crie um novo documento." ma:contentTypeScope="" ma:versionID="618023a50a23757e1650059b0eac2ade">
  <xsd:schema xmlns:xsd="http://www.w3.org/2001/XMLSchema" xmlns:xs="http://www.w3.org/2001/XMLSchema" xmlns:p="http://schemas.microsoft.com/office/2006/metadata/properties" xmlns:ns1="http://schemas.microsoft.com/sharepoint/v3" xmlns:ns2="2074a592-0284-4838-a99a-676a646e30ba" xmlns:ns3="e20d8d4b-1949-445f-b54d-8717a3d10a21" targetNamespace="http://schemas.microsoft.com/office/2006/metadata/properties" ma:root="true" ma:fieldsID="1b79bf2f9309d1b47eaebd57666dabab" ns1:_="" ns2:_="" ns3:_="">
    <xsd:import namespace="http://schemas.microsoft.com/sharepoint/v3"/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C_x00f3_digoPP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44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45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46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47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48" nillable="true" ma:displayName="Número de Ocorrências de Curtir" ma:internalName="LikesCount">
      <xsd:simpleType>
        <xsd:restriction base="dms:Unknown"/>
      </xsd:simpleType>
    </xsd:element>
    <xsd:element name="LikedBy" ma:index="49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ma:displayName="Status" ma:default="Bruto" ma:format="Dropdown" ma:indexed="true" ma:internalName="Status">
      <xsd:simpleType>
        <xsd:union memberTypes="dms:Text">
          <xsd:simpleType>
            <xsd:restriction base="dms:Choice">
              <xsd:enumeration value="Pendente ajuste"/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  <xsd:enumeration value="Template"/>
            </xsd:restriction>
          </xsd:simpleType>
        </xsd:union>
      </xsd:simpleType>
    </xsd:element>
    <xsd:element name="Coordena_x00e7__x00e3_o" ma:index="21" nillable="true" ma:displayName="Coordenação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_x00f3_digoPPC" ma:index="50" nillable="true" ma:displayName="Código PPC" ma:format="Dropdown" ma:internalName="C_x00f3_digoPPC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LikesCount xmlns="http://schemas.microsoft.com/sharepoint/v3" xsi:nil="true"/>
    <C_x00f3_digoPPC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Ratings xmlns="http://schemas.microsoft.com/sharepoint/v3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LikedBy xmlns="http://schemas.microsoft.com/sharepoint/v3">
      <UserInfo>
        <DisplayName/>
        <AccountId xsi:nil="true"/>
        <AccountType/>
      </UserInfo>
    </LikedBy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Liberado para disponibilização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0F194DD4-34EB-4442-8A94-70D50A5F17EB}"/>
</file>

<file path=customXml/itemProps2.xml><?xml version="1.0" encoding="utf-8"?>
<ds:datastoreItem xmlns:ds="http://schemas.openxmlformats.org/officeDocument/2006/customXml" ds:itemID="{0AA11019-A2EA-4618-AF98-28BB9616FA0A}"/>
</file>

<file path=customXml/itemProps3.xml><?xml version="1.0" encoding="utf-8"?>
<ds:datastoreItem xmlns:ds="http://schemas.openxmlformats.org/officeDocument/2006/customXml" ds:itemID="{27BC82C0-015A-4567-961C-2EFDD211F52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</Properties>
</file>