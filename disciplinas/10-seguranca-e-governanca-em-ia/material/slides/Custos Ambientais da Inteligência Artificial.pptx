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Amatic SC"/>
      <p:regular r:id="rId29"/>
      <p:bold r:id="rId30"/>
    </p:embeddedFont>
    <p:embeddedFont>
      <p:font typeface="Source Code Pro"/>
      <p:regular r:id="rId31"/>
      <p:bold r:id="rId32"/>
      <p:italic r:id="rId33"/>
      <p:boldItalic r:id="rId34"/>
    </p:embeddedFont>
    <p:embeddedFont>
      <p:font typeface="Source Code Pro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customXml" Target="../customXml/item1.xml"/><Relationship Id="rId21" Type="http://schemas.openxmlformats.org/officeDocument/2006/relationships/slide" Target="slides/slide16.xml"/><Relationship Id="rId34" Type="http://schemas.openxmlformats.org/officeDocument/2006/relationships/font" Target="fonts/SourceCodePro-boldItalic.fntdata"/><Relationship Id="rId7" Type="http://schemas.openxmlformats.org/officeDocument/2006/relationships/slide" Target="slides/slide2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29" Type="http://schemas.openxmlformats.org/officeDocument/2006/relationships/font" Target="fonts/AmaticSC-regular.fntdata"/><Relationship Id="rId16" Type="http://schemas.openxmlformats.org/officeDocument/2006/relationships/slide" Target="slides/slide11.xml"/><Relationship Id="rId41" Type="http://schemas.openxmlformats.org/officeDocument/2006/relationships/customXml" Target="../customXml/item3.xml"/><Relationship Id="rId24" Type="http://schemas.openxmlformats.org/officeDocument/2006/relationships/slide" Target="slides/slide19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font" Target="fonts/SourceCodePro-bold.fntdata"/><Relationship Id="rId37" Type="http://schemas.openxmlformats.org/officeDocument/2006/relationships/font" Target="fonts/SourceCodeProSemiBold-italic.fntdata"/><Relationship Id="rId40" Type="http://schemas.openxmlformats.org/officeDocument/2006/relationships/customXml" Target="../customXml/item2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36" Type="http://schemas.openxmlformats.org/officeDocument/2006/relationships/font" Target="fonts/SourceCodeProSemiBold-bold.fntdata"/><Relationship Id="rId31" Type="http://schemas.openxmlformats.org/officeDocument/2006/relationships/font" Target="fonts/SourceCodePro-regular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slide" Target="slides/slide22.xml"/><Relationship Id="rId30" Type="http://schemas.openxmlformats.org/officeDocument/2006/relationships/font" Target="fonts/AmaticSC-bold.fntdata"/><Relationship Id="rId35" Type="http://schemas.openxmlformats.org/officeDocument/2006/relationships/font" Target="fonts/SourceCodeProSemiBold-regular.fntdata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3" Type="http://schemas.openxmlformats.org/officeDocument/2006/relationships/presProps" Target="presProps.xml"/><Relationship Id="rId25" Type="http://schemas.openxmlformats.org/officeDocument/2006/relationships/slide" Target="slides/slide20.xml"/><Relationship Id="rId33" Type="http://schemas.openxmlformats.org/officeDocument/2006/relationships/font" Target="fonts/SourceCodePro-italic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8" Type="http://schemas.openxmlformats.org/officeDocument/2006/relationships/font" Target="fonts/SourceCodePro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5e243d21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5e243d21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5e243d21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5e243d21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5e243d21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5e243d21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5e243d21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5e243d21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5e243d21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5e243d21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5e243d21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5e243d21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5e243d21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5e243d21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e243d21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5e243d21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e243d214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5e243d21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e243d214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5e243d21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5e243d21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5e243d21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a29aaf3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6a29aaf3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5e243d21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5e243d21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5e243d21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5e243d21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5e243d214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5e243d21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5e243d21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5e243d21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6a29aaf3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6a29aaf3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e243d21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5e243d21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6a29aaf3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6a29aaf3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5e243d214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5e243d214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5e243d21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5e243d21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5e243d214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5e243d214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.xm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idatacentermap.org/map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loud.google.com/about/locations?hl=pt-br" TargetMode="External"/><Relationship Id="rId4" Type="http://schemas.openxmlformats.org/officeDocument/2006/relationships/hyperlink" Target="https://aws.amazon.com/pt/about-aws/global-infrastructure/" TargetMode="External"/><Relationship Id="rId5" Type="http://schemas.openxmlformats.org/officeDocument/2006/relationships/hyperlink" Target="https://azure.microsoft.com/en-us/explore/global-infrastructure/geographies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submarinecablemap.com/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pp.electricitymaps.com/map/all/monthly" TargetMode="External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s://www.nature.com/articles/s41545-021-00101-w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jornal.unicamp.br/audio/2026/04/07/reduzindo-o-impacto-do-uso-da-agua-nos-data-centers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portal.fgv.br/noticias/estudo-da-fgv-aponta-que-data-centers-com-ia-geram-mais-de-12-mil-empregos-e-mobilizam-25-bilhoes" TargetMode="External"/><Relationship Id="rId4" Type="http://schemas.openxmlformats.org/officeDocument/2006/relationships/hyperlink" Target="https://investnews.com.br/the-wall-street-journal/o-boom-dos-data-centers-de-ia-nao-esta-criando-muitos-empregos/" TargetMode="External"/><Relationship Id="rId5" Type="http://schemas.openxmlformats.org/officeDocument/2006/relationships/hyperlink" Target="https://www.wsj.com/tech/ai-data-center-job-creation-48038b67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lobalenergymonitor.org/#explore" TargetMode="External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wri.org/insights/us-data-center-growth-impacts" TargetMode="External"/><Relationship Id="rId4" Type="http://schemas.openxmlformats.org/officeDocument/2006/relationships/hyperlink" Target="https://portal.fgv.br/noticias/estudo-da-fgv-aponta-que-data-centers-com-ia-geram-mais-de-12-mil-empregos-e-mobilizam-25-bilhoes" TargetMode="External"/><Relationship Id="rId9" Type="http://schemas.openxmlformats.org/officeDocument/2006/relationships/hyperlink" Target="https://www.sciencedirect.com/science/article/abs/pii/S0378778825003184" TargetMode="External"/><Relationship Id="rId5" Type="http://schemas.openxmlformats.org/officeDocument/2006/relationships/hyperlink" Target="https://www.sciencedirect.com/science/article/pii/S0921344925001892?via%3Dihub" TargetMode="External"/><Relationship Id="rId6" Type="http://schemas.openxmlformats.org/officeDocument/2006/relationships/hyperlink" Target="https://www.dw.com/en/pushback-on-data-centers-artificial-intelligence-water-drought-environmental-problems/a-78064418" TargetMode="External"/><Relationship Id="rId7" Type="http://schemas.openxmlformats.org/officeDocument/2006/relationships/hyperlink" Target="https://technav.ieee.org/topic/power-usage-effectiveness" TargetMode="External"/><Relationship Id="rId8" Type="http://schemas.openxmlformats.org/officeDocument/2006/relationships/hyperlink" Target="https://www.ashrae.org/technical-resources/ai-data-center-framework/energy-and-thermal-efficiency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47950"/>
            <a:ext cx="5964300" cy="253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Custos Ambientais da Intelig</a:t>
            </a:r>
            <a:r>
              <a:rPr lang="en"/>
              <a:t>ência Artificial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63219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Ms. J</a:t>
            </a:r>
            <a:r>
              <a:rPr lang="en"/>
              <a:t>éssica Costa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Onde tem datacenters no mundo?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Data Center 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375" y="1726225"/>
            <a:ext cx="4594800" cy="308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Onde tem datacenters no mundo?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AI Data Center Map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452" y="1695250"/>
            <a:ext cx="5017074" cy="309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Onde tem datacenters no mundo?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228675"/>
            <a:ext cx="58275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Google: </a:t>
            </a:r>
            <a:r>
              <a:rPr lang="en" u="sng">
                <a:solidFill>
                  <a:schemeClr val="hlink"/>
                </a:solidFill>
                <a:hlinkClick r:id="rId3"/>
              </a:rPr>
              <a:t>Locais globais: regiões e zonas | Google Cloud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AWS: </a:t>
            </a:r>
            <a:r>
              <a:rPr lang="en" u="sng">
                <a:solidFill>
                  <a:schemeClr val="hlink"/>
                </a:solidFill>
                <a:hlinkClick r:id="rId4"/>
              </a:rPr>
              <a:t>Infraestrutura global — AWS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Azure: </a:t>
            </a:r>
            <a:r>
              <a:rPr lang="en" u="sng">
                <a:solidFill>
                  <a:schemeClr val="hlink"/>
                </a:solidFill>
                <a:hlinkClick r:id="rId5"/>
              </a:rPr>
              <a:t>Choose the Right Azure Region for You | Microsoft Azure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onde est</a:t>
            </a:r>
            <a:r>
              <a:rPr lang="en"/>
              <a:t>ão os cabos submarinos</a:t>
            </a:r>
            <a:r>
              <a:rPr lang="en"/>
              <a:t>?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228675"/>
            <a:ext cx="58275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Submarine Cable 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25" y="1762700"/>
            <a:ext cx="4265750" cy="280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as fontes de energia?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203850" y="956575"/>
            <a:ext cx="6711900" cy="3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Vamos estudar: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https://app.electricitymaps.com/map/all/monthly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757603"/>
            <a:ext cx="5882977" cy="301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por que tudo isso </a:t>
            </a:r>
            <a:r>
              <a:rPr lang="en"/>
              <a:t>é importante?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228675"/>
            <a:ext cx="61725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localização física dos data centers é crucial para o meio ambiente porque o impacto ambiental não é distribuído por igual, ele ocorre em locais geográficos muito específicos e afeta diretamente as comunidades e ecossistemas daquela região.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Custos de um datacenter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 de treinamento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228675"/>
            <a:ext cx="4980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/>
              <a:t>Evento Único e Concentrado:</a:t>
            </a:r>
            <a:r>
              <a:rPr lang="en" sz="1600"/>
              <a:t> Ocorre durante semanas ou meses na criação do modelo.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/>
              <a:t>Consumo Energético:</a:t>
            </a:r>
            <a:r>
              <a:rPr lang="en" sz="1600"/>
              <a:t> Milhares de GPUs operando em carga máxima.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/>
              <a:t>Alta Pegada de Carbono: </a:t>
            </a:r>
            <a:r>
              <a:rPr lang="en" sz="1600"/>
              <a:t>Treinar um único grande modelo pode emitir centenas de toneladas de CO2.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/>
              <a:t>Impacto Indireto:</a:t>
            </a:r>
            <a:r>
              <a:rPr lang="en" sz="1600"/>
              <a:t> Custo extrativo massivo de minérios críticos (lítio, cobre, terras raras) para os chips.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 de Inferência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228675"/>
            <a:ext cx="4980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42823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ct val="130936"/>
              <a:buFont typeface="Arial"/>
              <a:buChar char="●"/>
            </a:pPr>
            <a:r>
              <a:rPr b="1" lang="en" sz="1616">
                <a:solidFill>
                  <a:srgbClr val="646566"/>
                </a:solidFill>
              </a:rPr>
              <a:t>Uso Diário e Contínuo: </a:t>
            </a:r>
            <a:r>
              <a:rPr lang="en" sz="1616">
                <a:solidFill>
                  <a:srgbClr val="646566"/>
                </a:solidFill>
              </a:rPr>
              <a:t>Ocorre em tempo real a cada pergunta ou prompt dos usuários.</a:t>
            </a:r>
            <a:endParaRPr sz="1616">
              <a:solidFill>
                <a:srgbClr val="646566"/>
              </a:solidFill>
            </a:endParaRPr>
          </a:p>
          <a:p>
            <a:pPr indent="-342823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ct val="130936"/>
              <a:buFont typeface="Arial"/>
              <a:buChar char="●"/>
            </a:pPr>
            <a:r>
              <a:rPr b="1" lang="en" sz="1616">
                <a:solidFill>
                  <a:srgbClr val="646566"/>
                </a:solidFill>
              </a:rPr>
              <a:t>Efeito </a:t>
            </a:r>
            <a:r>
              <a:rPr b="1" lang="en" sz="1616">
                <a:solidFill>
                  <a:srgbClr val="646566"/>
                </a:solidFill>
              </a:rPr>
              <a:t>Cumulativo</a:t>
            </a:r>
            <a:r>
              <a:rPr b="1" lang="en" sz="1616">
                <a:solidFill>
                  <a:srgbClr val="646566"/>
                </a:solidFill>
              </a:rPr>
              <a:t>:</a:t>
            </a:r>
            <a:r>
              <a:rPr lang="en" sz="1616">
                <a:solidFill>
                  <a:srgbClr val="646566"/>
                </a:solidFill>
              </a:rPr>
              <a:t> Uma única busca gasta pouco, mas bilhões de pesquisas diárias somam um custo colossal.</a:t>
            </a:r>
            <a:endParaRPr sz="1616">
              <a:solidFill>
                <a:srgbClr val="646566"/>
              </a:solidFill>
            </a:endParaRPr>
          </a:p>
          <a:p>
            <a:pPr indent="-342823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ct val="130936"/>
              <a:buFont typeface="Arial"/>
              <a:buChar char="●"/>
            </a:pPr>
            <a:r>
              <a:rPr b="1" lang="en" sz="1616">
                <a:solidFill>
                  <a:srgbClr val="646566"/>
                </a:solidFill>
              </a:rPr>
              <a:t>Maior Impacto no Longo Prazo:</a:t>
            </a:r>
            <a:r>
              <a:rPr lang="en" sz="1616">
                <a:solidFill>
                  <a:srgbClr val="646566"/>
                </a:solidFill>
              </a:rPr>
              <a:t> O consumo total de inferência supera o de treinamento ao longo da vida do modelo.</a:t>
            </a:r>
            <a:endParaRPr sz="1616">
              <a:solidFill>
                <a:srgbClr val="646566"/>
              </a:solidFill>
            </a:endParaRPr>
          </a:p>
          <a:p>
            <a:pPr indent="-342823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ct val="130936"/>
              <a:buFont typeface="Arial"/>
              <a:buChar char="●"/>
            </a:pPr>
            <a:r>
              <a:rPr b="1" lang="en" sz="1616">
                <a:solidFill>
                  <a:srgbClr val="646566"/>
                </a:solidFill>
              </a:rPr>
              <a:t>Infraestrutura 24/7:</a:t>
            </a:r>
            <a:r>
              <a:rPr lang="en" sz="1616">
                <a:solidFill>
                  <a:srgbClr val="646566"/>
                </a:solidFill>
              </a:rPr>
              <a:t> Exige data centers ligados ininterruptamente para resposta instantânea.</a:t>
            </a:r>
            <a:endParaRPr sz="1616">
              <a:solidFill>
                <a:srgbClr val="6465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 de refrigeraç</a:t>
            </a:r>
            <a:r>
              <a:rPr lang="en"/>
              <a:t>ão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044775"/>
            <a:ext cx="5687700" cy="3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5680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ts val="2316"/>
              <a:buFont typeface="Arial"/>
              <a:buChar char="●"/>
            </a:pPr>
            <a:r>
              <a:rPr b="1" lang="en" sz="1300">
                <a:solidFill>
                  <a:srgbClr val="646566"/>
                </a:solidFill>
              </a:rPr>
              <a:t>A “sobretaxa” da física:</a:t>
            </a:r>
            <a:r>
              <a:rPr lang="en" sz="1300">
                <a:solidFill>
                  <a:srgbClr val="646566"/>
                </a:solidFill>
              </a:rPr>
              <a:t> O resfriamento pode representar uma parcela significativa do consumo de energia de um data center.</a:t>
            </a:r>
            <a:endParaRPr sz="1300">
              <a:solidFill>
                <a:srgbClr val="646566"/>
              </a:solidFill>
            </a:endParaRPr>
          </a:p>
          <a:p>
            <a:pPr indent="-375680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ts val="2316"/>
              <a:buFont typeface="Arial"/>
              <a:buChar char="●"/>
            </a:pPr>
            <a:r>
              <a:rPr b="1" lang="en" sz="1300">
                <a:solidFill>
                  <a:srgbClr val="646566"/>
                </a:solidFill>
              </a:rPr>
              <a:t>Consumo hídrico: </a:t>
            </a:r>
            <a:r>
              <a:rPr lang="en" sz="1300">
                <a:solidFill>
                  <a:srgbClr val="646566"/>
                </a:solidFill>
              </a:rPr>
              <a:t>Sistemas evaporativos podem consumir grandes volumes de água, especialmente em instalações de grande escala.</a:t>
            </a:r>
            <a:endParaRPr sz="1300">
              <a:solidFill>
                <a:srgbClr val="646566"/>
              </a:solidFill>
            </a:endParaRPr>
          </a:p>
          <a:p>
            <a:pPr indent="-375680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ts val="2316"/>
              <a:buFont typeface="Arial"/>
              <a:buChar char="●"/>
            </a:pPr>
            <a:r>
              <a:rPr b="1" lang="en" sz="1300">
                <a:solidFill>
                  <a:srgbClr val="646566"/>
                </a:solidFill>
              </a:rPr>
              <a:t>Vulnerabilidade climática:</a:t>
            </a:r>
            <a:r>
              <a:rPr lang="en" sz="1300">
                <a:solidFill>
                  <a:srgbClr val="646566"/>
                </a:solidFill>
              </a:rPr>
              <a:t> Calor e secas aumentam a demanda por eletricidade e, em alguns sistemas, por água.</a:t>
            </a:r>
            <a:endParaRPr sz="1300">
              <a:solidFill>
                <a:srgbClr val="646566"/>
              </a:solidFill>
            </a:endParaRPr>
          </a:p>
          <a:p>
            <a:pPr indent="-375680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ts val="2316"/>
              <a:buFont typeface="Arial"/>
              <a:buChar char="●"/>
            </a:pPr>
            <a:r>
              <a:rPr b="1" lang="en" sz="1300">
                <a:solidFill>
                  <a:srgbClr val="646566"/>
                </a:solidFill>
              </a:rPr>
              <a:t>Desafio da densidade: </a:t>
            </a:r>
            <a:r>
              <a:rPr lang="en" sz="1300">
                <a:solidFill>
                  <a:srgbClr val="646566"/>
                </a:solidFill>
              </a:rPr>
              <a:t>GPUs de IA cada vez mais potentes concentram mais calor, pressionando os limites do resfriamento a ar e impulsionando o uso de tecnologias líquidas.</a:t>
            </a:r>
            <a:endParaRPr sz="1300">
              <a:solidFill>
                <a:srgbClr val="64656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PUE: </a:t>
            </a:r>
            <a:r>
              <a:rPr lang="en"/>
              <a:t>power usage effectiveness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228675"/>
            <a:ext cx="6172500" cy="3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PUE (Power Usage Effectiveness) mede quanta energia total o data center consome em relação à energia efetivamente utilizada pelos equipamentos de 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PUE = 1,0: eficiência ideal — toda a energia vai para os equipamentos de TI.</a:t>
            </a:r>
            <a:endParaRPr sz="1000">
              <a:solidFill>
                <a:srgbClr val="000000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Quanto menor o PUE, melhor: menos energia é gasta com refrigeração, iluminação e demais sistemas de infraestrutura.</a:t>
            </a:r>
            <a:endParaRPr sz="1000">
              <a:solidFill>
                <a:srgbClr val="000000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850" y="2682174"/>
            <a:ext cx="5497390" cy="8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4"/>
          <p:cNvSpPr txBox="1"/>
          <p:nvPr/>
        </p:nvSpPr>
        <p:spPr>
          <a:xfrm>
            <a:off x="392650" y="4509900"/>
            <a:ext cx="55746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Fonte: </a:t>
            </a:r>
            <a:r>
              <a:rPr lang="en" sz="1100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4"/>
              </a:rPr>
              <a:t>https://www.nature.com/articles/s41545-021-00101-w</a:t>
            </a:r>
            <a:endParaRPr sz="11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Gastar energia x gastar água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Resfriamento a Ar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972250"/>
            <a:ext cx="5694300" cy="4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98">
              <a:solidFill>
                <a:srgbClr val="646566"/>
              </a:solidFill>
            </a:endParaRPr>
          </a:p>
          <a:p>
            <a:pPr indent="-336400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ts val="1698"/>
              <a:buFont typeface="Source Code Pro"/>
              <a:buChar char="●"/>
            </a:pPr>
            <a:r>
              <a:rPr b="1" lang="en" sz="1698">
                <a:solidFill>
                  <a:srgbClr val="646566"/>
                </a:solidFill>
              </a:rPr>
              <a:t>Como funciona:</a:t>
            </a:r>
            <a:r>
              <a:rPr lang="en" sz="1698">
                <a:solidFill>
                  <a:srgbClr val="646566"/>
                </a:solidFill>
              </a:rPr>
              <a:t> Usa ventiladores e sistemas de ar-condicionado para retirar o calor dos servidores.</a:t>
            </a:r>
            <a:endParaRPr sz="1698">
              <a:solidFill>
                <a:srgbClr val="646566"/>
              </a:solidFill>
            </a:endParaRPr>
          </a:p>
          <a:p>
            <a:pPr indent="-336400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ts val="1698"/>
              <a:buFont typeface="Source Code Pro"/>
              <a:buChar char="●"/>
            </a:pPr>
            <a:r>
              <a:rPr b="1" lang="en" sz="1698">
                <a:solidFill>
                  <a:srgbClr val="646566"/>
                </a:solidFill>
              </a:rPr>
              <a:t>Vantagem:</a:t>
            </a:r>
            <a:r>
              <a:rPr lang="en" sz="1698">
                <a:solidFill>
                  <a:srgbClr val="646566"/>
                </a:solidFill>
              </a:rPr>
              <a:t> Consumo de água operacional muito baixo ou próximo de zero.</a:t>
            </a:r>
            <a:endParaRPr sz="1698">
              <a:solidFill>
                <a:srgbClr val="646566"/>
              </a:solidFill>
            </a:endParaRPr>
          </a:p>
          <a:p>
            <a:pPr indent="-336400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ts val="1698"/>
              <a:buFont typeface="Source Code Pro"/>
              <a:buChar char="●"/>
            </a:pPr>
            <a:r>
              <a:rPr b="1" lang="en" sz="1698">
                <a:solidFill>
                  <a:srgbClr val="646566"/>
                </a:solidFill>
              </a:rPr>
              <a:t>Custo ambiental: </a:t>
            </a:r>
            <a:r>
              <a:rPr lang="en" sz="1698">
                <a:solidFill>
                  <a:srgbClr val="646566"/>
                </a:solidFill>
              </a:rPr>
              <a:t>Pode exigir mais eletricidade, especialmente em climas quentes. Se essa energia vier de combustíveis fósseis, a pegada de carbono pode ser significativamente maior.</a:t>
            </a:r>
            <a:endParaRPr>
              <a:solidFill>
                <a:srgbClr val="64656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Resfriamento Evaporativo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972250"/>
            <a:ext cx="5694300" cy="4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98">
              <a:solidFill>
                <a:srgbClr val="646566"/>
              </a:solidFill>
            </a:endParaRPr>
          </a:p>
          <a:p>
            <a:pPr indent="-336400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ts val="1698"/>
              <a:buFont typeface="Source Code Pro"/>
              <a:buChar char="●"/>
            </a:pPr>
            <a:r>
              <a:rPr b="1" lang="en" sz="1698">
                <a:solidFill>
                  <a:srgbClr val="646566"/>
                </a:solidFill>
              </a:rPr>
              <a:t>Como funciona: </a:t>
            </a:r>
            <a:r>
              <a:rPr lang="en" sz="1698">
                <a:solidFill>
                  <a:srgbClr val="646566"/>
                </a:solidFill>
              </a:rPr>
              <a:t>Água é evaporada no ar aquecido pelos servidores, absorvendo o calor e resfriando o ambiente.</a:t>
            </a:r>
            <a:endParaRPr sz="1698">
              <a:solidFill>
                <a:srgbClr val="646566"/>
              </a:solidFill>
            </a:endParaRPr>
          </a:p>
          <a:p>
            <a:pPr indent="-336400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ts val="1698"/>
              <a:buFont typeface="Source Code Pro"/>
              <a:buChar char="●"/>
            </a:pPr>
            <a:r>
              <a:rPr b="1" lang="en" sz="1698">
                <a:solidFill>
                  <a:srgbClr val="646566"/>
                </a:solidFill>
              </a:rPr>
              <a:t>Vantagem: </a:t>
            </a:r>
            <a:r>
              <a:rPr lang="en" sz="1698">
                <a:solidFill>
                  <a:srgbClr val="646566"/>
                </a:solidFill>
              </a:rPr>
              <a:t>Muito mais eficiente eletricamente, mantendo o PUE baixo.</a:t>
            </a:r>
            <a:endParaRPr sz="1698">
              <a:solidFill>
                <a:srgbClr val="646566"/>
              </a:solidFill>
            </a:endParaRPr>
          </a:p>
          <a:p>
            <a:pPr indent="-336400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ts val="1698"/>
              <a:buFont typeface="Source Code Pro"/>
              <a:buChar char="●"/>
            </a:pPr>
            <a:r>
              <a:rPr b="1" lang="en" sz="1698">
                <a:solidFill>
                  <a:srgbClr val="646566"/>
                </a:solidFill>
              </a:rPr>
              <a:t>Custo ambiental:</a:t>
            </a:r>
            <a:r>
              <a:rPr lang="en" sz="1698">
                <a:solidFill>
                  <a:srgbClr val="646566"/>
                </a:solidFill>
              </a:rPr>
              <a:t> Pode consumir grandes volumes de água, aumentando a pressão sobre rios, aquíferos e sistemas de abastecimento, especialmente em regiões de escassez hídrica.</a:t>
            </a:r>
            <a:endParaRPr>
              <a:solidFill>
                <a:srgbClr val="64656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Resfriamento por Ar Natural / Free Cooling</a:t>
            </a:r>
            <a:endParaRPr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972250"/>
            <a:ext cx="5694300" cy="4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55">
                <a:solidFill>
                  <a:srgbClr val="646566"/>
                </a:solidFill>
              </a:rPr>
              <a:t>(Países Frios / Islândia)</a:t>
            </a:r>
            <a:endParaRPr b="1" sz="2055">
              <a:solidFill>
                <a:srgbClr val="646566"/>
              </a:solidFill>
            </a:endParaRPr>
          </a:p>
          <a:p>
            <a:pPr indent="-337546" lvl="0" marL="457200" rtl="0" algn="l">
              <a:spcBef>
                <a:spcPts val="1200"/>
              </a:spcBef>
              <a:spcAft>
                <a:spcPts val="0"/>
              </a:spcAft>
              <a:buClr>
                <a:srgbClr val="646566"/>
              </a:buClr>
              <a:buSzPct val="100000"/>
              <a:buFont typeface="Arial"/>
              <a:buChar char="●"/>
            </a:pPr>
            <a:r>
              <a:rPr b="1" lang="en" sz="1855">
                <a:solidFill>
                  <a:srgbClr val="646566"/>
                </a:solidFill>
              </a:rPr>
              <a:t>Como funciona:</a:t>
            </a:r>
            <a:r>
              <a:rPr lang="en" sz="1855">
                <a:solidFill>
                  <a:srgbClr val="646566"/>
                </a:solidFill>
              </a:rPr>
              <a:t> Aproveita o ar externo frio para resfriar os servidores, reduzindo ou eliminando o uso de compressores.</a:t>
            </a:r>
            <a:endParaRPr sz="1855">
              <a:solidFill>
                <a:srgbClr val="646566"/>
              </a:solidFill>
            </a:endParaRPr>
          </a:p>
          <a:p>
            <a:pPr indent="-337546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ct val="100000"/>
              <a:buFont typeface="Arial"/>
              <a:buChar char="●"/>
            </a:pPr>
            <a:r>
              <a:rPr b="1" lang="en" sz="1855">
                <a:solidFill>
                  <a:srgbClr val="646566"/>
                </a:solidFill>
              </a:rPr>
              <a:t>Vantagem: </a:t>
            </a:r>
            <a:r>
              <a:rPr lang="en" sz="1855">
                <a:solidFill>
                  <a:srgbClr val="646566"/>
                </a:solidFill>
              </a:rPr>
              <a:t>Pode proporcionar PUE muito baixo, com grande economia de energia e consumo de água operacional próximo de zero.</a:t>
            </a:r>
            <a:endParaRPr sz="1855">
              <a:solidFill>
                <a:srgbClr val="646566"/>
              </a:solidFill>
            </a:endParaRPr>
          </a:p>
          <a:p>
            <a:pPr indent="-337546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ct val="100000"/>
              <a:buFont typeface="Arial"/>
              <a:buChar char="●"/>
            </a:pPr>
            <a:r>
              <a:rPr b="1" lang="en" sz="1855">
                <a:solidFill>
                  <a:srgbClr val="646566"/>
                </a:solidFill>
              </a:rPr>
              <a:t>Custo ambiental: </a:t>
            </a:r>
            <a:r>
              <a:rPr lang="en" sz="1855">
                <a:solidFill>
                  <a:srgbClr val="646566"/>
                </a:solidFill>
              </a:rPr>
              <a:t>Depende do clima e da localização, além dos impactos da construção da infraestrutura, como redes de energia e telecomunicações, e da geração de lixo eletrônico.</a:t>
            </a:r>
            <a:endParaRPr>
              <a:solidFill>
                <a:srgbClr val="64656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Resfriamento por Circuito Fechado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972250"/>
            <a:ext cx="5694300" cy="4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646566"/>
              </a:buClr>
              <a:buSzPts val="1600"/>
              <a:buChar char="●"/>
            </a:pPr>
            <a:r>
              <a:rPr b="1" lang="en" sz="1600">
                <a:solidFill>
                  <a:srgbClr val="646566"/>
                </a:solidFill>
              </a:rPr>
              <a:t>Como funciona:</a:t>
            </a:r>
            <a:r>
              <a:rPr lang="en" sz="1600">
                <a:solidFill>
                  <a:srgbClr val="646566"/>
                </a:solidFill>
              </a:rPr>
              <a:t> Líquido refrigerante circula em circuito fechado diretamente sobre os chips ou os componentes ficam imersos em fluido dielétrico, retirando o calor sem evaporação de água.</a:t>
            </a:r>
            <a:endParaRPr sz="1600">
              <a:solidFill>
                <a:srgbClr val="646566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ts val="1600"/>
              <a:buChar char="●"/>
            </a:pPr>
            <a:r>
              <a:rPr b="1" lang="en" sz="1600">
                <a:solidFill>
                  <a:srgbClr val="646566"/>
                </a:solidFill>
              </a:rPr>
              <a:t>Vantagem:</a:t>
            </a:r>
            <a:r>
              <a:rPr lang="en" sz="1600">
                <a:solidFill>
                  <a:srgbClr val="646566"/>
                </a:solidFill>
              </a:rPr>
              <a:t> Alta eficiência térmica, adequada para chips de IA de alta potência, com consumo de água muito baixo ou próximo de zero.</a:t>
            </a:r>
            <a:endParaRPr sz="1600">
              <a:solidFill>
                <a:srgbClr val="646566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ts val="1600"/>
              <a:buChar char="●"/>
            </a:pPr>
            <a:r>
              <a:rPr b="1" lang="en" sz="1600">
                <a:solidFill>
                  <a:srgbClr val="646566"/>
                </a:solidFill>
              </a:rPr>
              <a:t>Custo ambiental: </a:t>
            </a:r>
            <a:r>
              <a:rPr lang="en" sz="1600">
                <a:solidFill>
                  <a:srgbClr val="646566"/>
                </a:solidFill>
              </a:rPr>
              <a:t>Maior custo inicial, necessidade de infraestrutura especializada e possíveis impactos associados à fabricação, manutenção e descarte dos fluidos e equipamentos.</a:t>
            </a:r>
            <a:endParaRPr sz="1600">
              <a:solidFill>
                <a:srgbClr val="646566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Assistir:</a:t>
            </a:r>
            <a:r>
              <a:rPr lang="en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Reduzindo o impacto do uso da água nos data centers - Jornal da Unicamp</a:t>
            </a:r>
            <a:endParaRPr sz="1600">
              <a:solidFill>
                <a:srgbClr val="64656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Outras Quest</a:t>
            </a:r>
            <a:r>
              <a:rPr lang="en"/>
              <a:t>ões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292850"/>
            <a:ext cx="57255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Poluição Sonora: O Impacto Silencioso </a:t>
            </a:r>
            <a:endParaRPr/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311700" y="1228675"/>
            <a:ext cx="5811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29967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ct val="100000"/>
              <a:buFont typeface="Arial"/>
              <a:buChar char="●"/>
            </a:pPr>
            <a:r>
              <a:rPr b="1" lang="en" sz="1726">
                <a:solidFill>
                  <a:srgbClr val="646566"/>
                </a:solidFill>
              </a:rPr>
              <a:t>Fonte do Som:</a:t>
            </a:r>
            <a:r>
              <a:rPr lang="en" sz="1726">
                <a:solidFill>
                  <a:srgbClr val="646566"/>
                </a:solidFill>
              </a:rPr>
              <a:t> Exaustores industriais, compressores de ar e torres de resfriamento em operação contínua (24/7).</a:t>
            </a:r>
            <a:endParaRPr sz="1726">
              <a:solidFill>
                <a:srgbClr val="646566"/>
              </a:solidFill>
            </a:endParaRPr>
          </a:p>
          <a:p>
            <a:pPr indent="-329967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ct val="100000"/>
              <a:buFont typeface="Arial"/>
              <a:buChar char="●"/>
            </a:pPr>
            <a:r>
              <a:rPr b="1" lang="en" sz="1726">
                <a:solidFill>
                  <a:srgbClr val="646566"/>
                </a:solidFill>
              </a:rPr>
              <a:t>O "Zumbido" de Baixa Frequência:</a:t>
            </a:r>
            <a:r>
              <a:rPr lang="en" sz="1726">
                <a:solidFill>
                  <a:srgbClr val="646566"/>
                </a:solidFill>
              </a:rPr>
              <a:t> Ondas sonoras graves que atravessam estruturas e são difíceis de isolar.</a:t>
            </a:r>
            <a:endParaRPr sz="1726">
              <a:solidFill>
                <a:srgbClr val="646566"/>
              </a:solidFill>
            </a:endParaRPr>
          </a:p>
          <a:p>
            <a:pPr indent="-329967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ct val="100000"/>
              <a:buFont typeface="Arial"/>
              <a:buChar char="●"/>
            </a:pPr>
            <a:r>
              <a:rPr b="1" lang="en" sz="1726">
                <a:solidFill>
                  <a:srgbClr val="646566"/>
                </a:solidFill>
              </a:rPr>
              <a:t>Saúde Pública Local:</a:t>
            </a:r>
            <a:r>
              <a:rPr lang="en" sz="1726">
                <a:solidFill>
                  <a:srgbClr val="646566"/>
                </a:solidFill>
              </a:rPr>
              <a:t> Privação do sono, estresse crônico e hipertensão em comunidades vizinhas.</a:t>
            </a:r>
            <a:endParaRPr sz="1726">
              <a:solidFill>
                <a:srgbClr val="646566"/>
              </a:solidFill>
            </a:endParaRPr>
          </a:p>
          <a:p>
            <a:pPr indent="-329967" lvl="0" marL="457200" rtl="0" algn="l">
              <a:spcBef>
                <a:spcPts val="0"/>
              </a:spcBef>
              <a:spcAft>
                <a:spcPts val="0"/>
              </a:spcAft>
              <a:buClr>
                <a:srgbClr val="646566"/>
              </a:buClr>
              <a:buSzPct val="100000"/>
              <a:buFont typeface="Arial"/>
              <a:buChar char="●"/>
            </a:pPr>
            <a:r>
              <a:rPr b="1" lang="en" sz="1726">
                <a:solidFill>
                  <a:srgbClr val="646566"/>
                </a:solidFill>
              </a:rPr>
              <a:t>Impacto Ecológico:</a:t>
            </a:r>
            <a:r>
              <a:rPr lang="en" sz="1726">
                <a:solidFill>
                  <a:srgbClr val="646566"/>
                </a:solidFill>
              </a:rPr>
              <a:t> Interferência na fauna local (comunicação, reprodução e navegação de aves e mamíferos).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quest</a:t>
            </a:r>
            <a:r>
              <a:rPr lang="en"/>
              <a:t>ão dos empregos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311700" y="1228675"/>
            <a:ext cx="64110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https://portal.fgv.br/noticias/estudo-da-fgv-aponta-que-data-centers-com-ia-geram-mais-de-12-mil-empregos-e-mobilizam-25-bilhoes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https://investnews.com.br/the-wall-street-journal/o-boom-dos-data-centers-de-ia-nao-esta-criando-muitos-empregos/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https://www.wsj.com/tech/ai-data-center-job-creation-48038b67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https://globalenergymonitor.org/#explore</a:t>
            </a:r>
            <a:endParaRPr/>
          </a:p>
        </p:txBody>
      </p:sp>
      <p:pic>
        <p:nvPicPr>
          <p:cNvPr id="180" name="Google Shape;18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500" y="377300"/>
            <a:ext cx="6165900" cy="36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ler:</a:t>
            </a:r>
            <a:endParaRPr/>
          </a:p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311700" y="1093850"/>
            <a:ext cx="60192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From Energy Use to Air Quality, the Many Ways Data Centers Affect US Communities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https://portal.fgv.br/noticias/estudo-da-fgv-aponta-que-data-centers-com-ia-geram-mais-de-12-mil-empregos-e-mobilizam-25-bilhoes</a:t>
            </a:r>
            <a:r>
              <a:rPr lang="en" sz="1200"/>
              <a:t> 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The water use of data center workloads: A review and assessment of key determinants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0" u="sng">
                <a:solidFill>
                  <a:schemeClr val="hlink"/>
                </a:solidFill>
                <a:hlinkClick r:id="rId6"/>
              </a:rPr>
              <a:t>US citizens are ramping up pressure on data centers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0" u="sng">
                <a:solidFill>
                  <a:schemeClr val="hlink"/>
                </a:solidFill>
                <a:hlinkClick r:id="rId7"/>
              </a:rPr>
              <a:t>https://technav.ieee.org/topic/power-usage-effectiveness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00" u="sng">
                <a:solidFill>
                  <a:schemeClr val="hlink"/>
                </a:solidFill>
                <a:hlinkClick r:id="rId8"/>
              </a:rPr>
              <a:t>Energy and Thermal Efficiency | AI Data Center Energy Performance Framework</a:t>
            </a:r>
            <a:r>
              <a:rPr lang="en" sz="1200"/>
              <a:t> 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n" sz="1200" u="sng">
                <a:solidFill>
                  <a:schemeClr val="hlink"/>
                </a:solidFill>
                <a:hlinkClick r:id="rId9"/>
              </a:rPr>
              <a:t>Spatial distribution and influencing factors of data centers in China: An empirical analysis based on the geodetector model - ScienceDirect</a:t>
            </a: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Espero que eu tenha contribu</a:t>
            </a:r>
            <a:r>
              <a:rPr lang="en"/>
              <a:t>ído para umA visão mais crítica.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Obrigada galera :)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4BF2EB6E0AA3499D5D22DB6C773100" ma:contentTypeVersion="54" ma:contentTypeDescription="Crie um novo documento." ma:contentTypeScope="" ma:versionID="618023a50a23757e1650059b0eac2ade">
  <xsd:schema xmlns:xsd="http://www.w3.org/2001/XMLSchema" xmlns:xs="http://www.w3.org/2001/XMLSchema" xmlns:p="http://schemas.microsoft.com/office/2006/metadata/properties" xmlns:ns1="http://schemas.microsoft.com/sharepoint/v3" xmlns:ns2="2074a592-0284-4838-a99a-676a646e30ba" xmlns:ns3="e20d8d4b-1949-445f-b54d-8717a3d10a21" targetNamespace="http://schemas.microsoft.com/office/2006/metadata/properties" ma:root="true" ma:fieldsID="1b79bf2f9309d1b47eaebd57666dabab" ns1:_="" ns2:_="" ns3:_="">
    <xsd:import namespace="http://schemas.microsoft.com/sharepoint/v3"/>
    <xsd:import namespace="2074a592-0284-4838-a99a-676a646e30ba"/>
    <xsd:import namespace="e20d8d4b-1949-445f-b54d-8717a3d10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Status"/>
                <xsd:element ref="ns2:Coordena_x00e7__x00e3_o" minOccurs="0"/>
                <xsd:element ref="ns2:Data_Recebimento" minOccurs="0"/>
                <xsd:element ref="ns2:Data_Rev_Coord" minOccurs="0"/>
                <xsd:element ref="ns2:Obs_x002e_" minOccurs="0"/>
                <xsd:element ref="ns2:Nome_Comercial" minOccurs="0"/>
                <xsd:element ref="ns2:Disciplina" minOccurs="0"/>
                <xsd:element ref="ns3:SharedWithUsers" minOccurs="0"/>
                <xsd:element ref="ns3:SharedWithDetails" minOccurs="0"/>
                <xsd:element ref="ns2:Sequencia" minOccurs="0"/>
                <xsd:element ref="ns2:Data_envio_materiais" minOccurs="0"/>
                <xsd:element ref="ns2:Iniciodadisciplina" minOccurs="0"/>
                <xsd:element ref="ns2:Status_Entrega" minOccurs="0"/>
                <xsd:element ref="ns2:Nome_do_professor" minOccurs="0"/>
                <xsd:element ref="ns2:Datadafinaliza_x00e7__x00e3_o" minOccurs="0"/>
                <xsd:element ref="ns2:MediaServiceLocation" minOccurs="0"/>
                <xsd:element ref="ns2:Emailseler" minOccurs="0"/>
                <xsd:element ref="ns2:Analista" minOccurs="0"/>
                <xsd:element ref="ns2:Analista_respons_x00e1_veel" minOccurs="0"/>
                <xsd:element ref="ns2:Titula_x00e7__x00e3_o" minOccurs="0"/>
                <xsd:element ref="ns2:NOME_SELLER" minOccurs="0"/>
                <xsd:element ref="ns2:Analista_Responsav_x00e9_l" minOccurs="0"/>
                <xsd:element ref="ns2:MediaServiceBillingMetadata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C_x00f3_digoPP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44" nillable="true" ma:displayName="Classificação (0-5)" ma:decimals="2" ma:description="Valor médio de todas as classificações enviadas" ma:internalName="AverageRating" ma:readOnly="true">
      <xsd:simpleType>
        <xsd:restriction base="dms:Number"/>
      </xsd:simpleType>
    </xsd:element>
    <xsd:element name="RatingCount" ma:index="45" nillable="true" ma:displayName="Número de Classificações" ma:decimals="0" ma:description="Número de classificações enviadas" ma:internalName="RatingCount" ma:readOnly="true">
      <xsd:simpleType>
        <xsd:restriction base="dms:Number"/>
      </xsd:simpleType>
    </xsd:element>
    <xsd:element name="RatedBy" ma:index="46" nillable="true" ma:displayName="Classificado por" ma:description="Usuários classificaram o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47" nillable="true" ma:displayName="Classificações de usuários" ma:description="Classificações de usuários para o item" ma:hidden="true" ma:internalName="Ratings">
      <xsd:simpleType>
        <xsd:restriction base="dms:Note"/>
      </xsd:simpleType>
    </xsd:element>
    <xsd:element name="LikesCount" ma:index="48" nillable="true" ma:displayName="Número de Ocorrências de Curtir" ma:internalName="LikesCount">
      <xsd:simpleType>
        <xsd:restriction base="dms:Unknown"/>
      </xsd:simpleType>
    </xsd:element>
    <xsd:element name="LikedBy" ma:index="49" nillable="true" ma:displayName="Curtido por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4a592-0284-4838-a99a-676a646e3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ma:displayName="Status" ma:default="Bruto" ma:format="Dropdown" ma:indexed="true" ma:internalName="Status">
      <xsd:simpleType>
        <xsd:union memberTypes="dms:Text">
          <xsd:simpleType>
            <xsd:restriction base="dms:Choice">
              <xsd:enumeration value="Pendente ajuste"/>
              <xsd:enumeration value="Atrasado"/>
              <xsd:enumeration value="Bruto"/>
              <xsd:enumeration value="Ajuste Infoprod"/>
              <xsd:enumeration value="Recebimento Parcial"/>
              <xsd:enumeration value="Não obrigatório"/>
              <xsd:enumeration value="Desconsiderar"/>
              <xsd:enumeration value="Liberado para disponibilização"/>
              <xsd:enumeration value="Revisão de questão"/>
              <xsd:enumeration value="Embed"/>
              <xsd:enumeration value="Disponibilizado"/>
              <xsd:enumeration value="BQ enviado para cadastro"/>
              <xsd:enumeration value="BQ Cadastrado"/>
              <xsd:enumeration value="Turma concluída"/>
              <xsd:enumeration value="Excluir do Cosmos"/>
              <xsd:enumeration value="Podcast | Em produção"/>
              <xsd:enumeration value="Formulário preenchido - banner"/>
              <xsd:enumeration value="Documentação conferida"/>
              <xsd:enumeration value="Documentação pendente"/>
              <xsd:enumeration value="Documentação"/>
              <xsd:enumeration value="Aguardando validação acadêmica"/>
              <xsd:enumeration value="Titulação divergente"/>
              <xsd:enumeration value="Lançamento suspenso"/>
              <xsd:enumeration value="Descontinuado"/>
              <xsd:enumeration value="Disciplina Cogna"/>
              <xsd:enumeration value="Disponibilizado Cogna"/>
              <xsd:enumeration value="Curso lançado"/>
              <xsd:enumeration value="Lançamento em breve"/>
              <xsd:enumeration value="Reaproveitar conteúdo"/>
              <xsd:enumeration value="NÃO reaproveitar da turma anterior"/>
              <xsd:enumeration value="Template"/>
            </xsd:restriction>
          </xsd:simpleType>
        </xsd:union>
      </xsd:simpleType>
    </xsd:element>
    <xsd:element name="Coordena_x00e7__x00e3_o" ma:index="21" nillable="true" ma:displayName="Coordenação" ma:list="UserInfo" ma:SharePointGroup="0" ma:internalName="Coordena_x00e7__x00e3_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_Recebimento" ma:index="22" nillable="true" ma:displayName="Data_Recebimento_Material" ma:format="DateOnly" ma:internalName="Data_Recebimento">
      <xsd:simpleType>
        <xsd:restriction base="dms:DateTime"/>
      </xsd:simpleType>
    </xsd:element>
    <xsd:element name="Data_Rev_Coord" ma:index="23" nillable="true" ma:displayName="Data_Rev_Coord" ma:format="DateOnly" ma:internalName="Data_Rev_Coord">
      <xsd:simpleType>
        <xsd:restriction base="dms:DateTime"/>
      </xsd:simpleType>
    </xsd:element>
    <xsd:element name="Obs_x002e_" ma:index="24" nillable="true" ma:displayName="Obs." ma:format="Dropdown" ma:internalName="Obs_x002e_">
      <xsd:simpleType>
        <xsd:restriction base="dms:Note">
          <xsd:maxLength value="255"/>
        </xsd:restriction>
      </xsd:simpleType>
    </xsd:element>
    <xsd:element name="Nome_Comercial" ma:index="25" nillable="true" ma:displayName="Nome_Comercial" ma:format="Dropdown" ma:internalName="Nome_Comercial">
      <xsd:simpleType>
        <xsd:restriction base="dms:Note">
          <xsd:maxLength value="255"/>
        </xsd:restriction>
      </xsd:simpleType>
    </xsd:element>
    <xsd:element name="Disciplina" ma:index="26" nillable="true" ma:displayName="Disciplina" ma:internalName="Disciplina">
      <xsd:simpleType>
        <xsd:restriction base="dms:Note">
          <xsd:maxLength value="255"/>
        </xsd:restriction>
      </xsd:simpleType>
    </xsd:element>
    <xsd:element name="Sequencia" ma:index="29" nillable="true" ma:displayName="Sequencia" ma:format="Dropdown" ma:internalName="Sequencia" ma:percentage="FALSE">
      <xsd:simpleType>
        <xsd:restriction base="dms:Number"/>
      </xsd:simpleType>
    </xsd:element>
    <xsd:element name="Data_envio_materiais" ma:index="30" nillable="true" ma:displayName="Data_Envio_materiais" ma:format="DateOnly" ma:internalName="Data_envio_materiais">
      <xsd:simpleType>
        <xsd:restriction base="dms:DateTime"/>
      </xsd:simpleType>
    </xsd:element>
    <xsd:element name="Iniciodadisciplina" ma:index="31" nillable="true" ma:displayName="Inicio da disciplina" ma:format="DateOnly" ma:indexed="true" ma:internalName="Iniciodadisciplina">
      <xsd:simpleType>
        <xsd:restriction base="dms:DateTime"/>
      </xsd:simpleType>
    </xsd:element>
    <xsd:element name="Status_Entrega" ma:index="32" nillable="true" ma:displayName="Status_Entrega" ma:format="Dropdown" ma:internalName="Status_Entrega">
      <xsd:simpleType>
        <xsd:restriction base="dms:Choice">
          <xsd:enumeration value="Atrasado"/>
        </xsd:restriction>
      </xsd:simpleType>
    </xsd:element>
    <xsd:element name="Nome_do_professor" ma:index="34" nillable="true" ma:displayName="Nome_do_professor" ma:format="Dropdown" ma:internalName="Nome_do_professor">
      <xsd:simpleType>
        <xsd:restriction base="dms:Text">
          <xsd:maxLength value="255"/>
        </xsd:restriction>
      </xsd:simpleType>
    </xsd:element>
    <xsd:element name="Datadafinaliza_x00e7__x00e3_o" ma:index="35" nillable="true" ma:displayName="Data_finalizacao_disciplina" ma:format="DateOnly" ma:internalName="Datadafinaliza_x00e7__x00e3_o">
      <xsd:simpleType>
        <xsd:restriction base="dms:DateTime"/>
      </xsd:simpleType>
    </xsd:element>
    <xsd:element name="MediaServiceLocation" ma:index="36" nillable="true" ma:displayName="Location" ma:indexed="true" ma:internalName="MediaServiceLocation" ma:readOnly="true">
      <xsd:simpleType>
        <xsd:restriction base="dms:Text"/>
      </xsd:simpleType>
    </xsd:element>
    <xsd:element name="Emailseler" ma:index="37" nillable="true" ma:displayName="Email_seller" ma:format="Dropdown" ma:internalName="Emailseler">
      <xsd:simpleType>
        <xsd:restriction base="dms:Text">
          <xsd:maxLength value="255"/>
        </xsd:restriction>
      </xsd:simpleType>
    </xsd:element>
    <xsd:element name="Analista" ma:index="38" nillable="true" ma:displayName="Analista" ma:format="Dropdown" ma:internalName="Analista">
      <xsd:simpleType>
        <xsd:restriction base="dms:Text">
          <xsd:maxLength value="255"/>
        </xsd:restriction>
      </xsd:simpleType>
    </xsd:element>
    <xsd:element name="Analista_respons_x00e1_veel" ma:index="39" nillable="true" ma:displayName="Email_Analista_responsáveel" ma:format="Dropdown" ma:internalName="Analista_respons_x00e1_veel">
      <xsd:simpleType>
        <xsd:restriction base="dms:Text">
          <xsd:maxLength value="255"/>
        </xsd:restriction>
      </xsd:simpleType>
    </xsd:element>
    <xsd:element name="Titula_x00e7__x00e3_o" ma:index="40" nillable="true" ma:displayName="Titulação" ma:format="Dropdown" ma:internalName="Titula_x00e7__x00e3_o">
      <xsd:simpleType>
        <xsd:restriction base="dms:Choice">
          <xsd:enumeration value="Especialista"/>
          <xsd:enumeration value="Mestre"/>
          <xsd:enumeration value="Doutor(a)"/>
        </xsd:restriction>
      </xsd:simpleType>
    </xsd:element>
    <xsd:element name="NOME_SELLER" ma:index="41" nillable="true" ma:displayName="Nome_Seller" ma:format="Dropdown" ma:internalName="NOME_SELLER">
      <xsd:simpleType>
        <xsd:restriction base="dms:Text">
          <xsd:maxLength value="255"/>
        </xsd:restriction>
      </xsd:simpleType>
    </xsd:element>
    <xsd:element name="Analista_Responsav_x00e9_l" ma:index="42" nillable="true" ma:displayName="Nome_Analista_Responsavél" ma:format="Dropdown" ma:internalName="Analista_Responsav_x00e9_l">
      <xsd:simpleType>
        <xsd:restriction base="dms:Choice">
          <xsd:enumeration value="Diana"/>
          <xsd:enumeration value="Joyce"/>
          <xsd:enumeration value="Lucas"/>
        </xsd:restriction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  <xsd:element name="C_x00f3_digoPPC" ma:index="50" nillable="true" ma:displayName="Código PPC" ma:format="Dropdown" ma:internalName="C_x00f3_digoPPC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d8d4b-1949-445f-b54d-8717a3d10a2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5443eb-cbbb-44e0-b5db-83270feeb83d}" ma:internalName="TaxCatchAll" ma:showField="CatchAllData" ma:web="e20d8d4b-1949-445f-b54d-8717a3d10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_x002e_ xmlns="2074a592-0284-4838-a99a-676a646e30ba" xsi:nil="true"/>
    <LikesCount xmlns="http://schemas.microsoft.com/sharepoint/v3" xsi:nil="true"/>
    <C_x00f3_digoPPC xmlns="2074a592-0284-4838-a99a-676a646e30ba" xsi:nil="true"/>
    <Sequencia xmlns="2074a592-0284-4838-a99a-676a646e30ba" xsi:nil="true"/>
    <Iniciodadisciplina xmlns="2074a592-0284-4838-a99a-676a646e30ba" xsi:nil="true"/>
    <Titula_x00e7__x00e3_o xmlns="2074a592-0284-4838-a99a-676a646e30ba" xsi:nil="true"/>
    <Data_Rev_Coord xmlns="2074a592-0284-4838-a99a-676a646e30ba" xsi:nil="true"/>
    <Nome_do_professor xmlns="2074a592-0284-4838-a99a-676a646e30ba" xsi:nil="true"/>
    <Ratings xmlns="http://schemas.microsoft.com/sharepoint/v3" xsi:nil="true"/>
    <Analista xmlns="2074a592-0284-4838-a99a-676a646e30ba" xsi:nil="true"/>
    <Coordena_x00e7__x00e3_o xmlns="2074a592-0284-4838-a99a-676a646e30ba">
      <UserInfo>
        <DisplayName/>
        <AccountId xsi:nil="true"/>
        <AccountType/>
      </UserInfo>
    </Coordena_x00e7__x00e3_o>
    <Data_envio_materiais xmlns="2074a592-0284-4838-a99a-676a646e30ba" xsi:nil="true"/>
    <Datadafinaliza_x00e7__x00e3_o xmlns="2074a592-0284-4838-a99a-676a646e30ba" xsi:nil="true"/>
    <NOME_SELLER xmlns="2074a592-0284-4838-a99a-676a646e30ba" xsi:nil="true"/>
    <LikedBy xmlns="http://schemas.microsoft.com/sharepoint/v3">
      <UserInfo>
        <DisplayName/>
        <AccountId xsi:nil="true"/>
        <AccountType/>
      </UserInfo>
    </LikedBy>
    <Analista_respons_x00e1_veel xmlns="2074a592-0284-4838-a99a-676a646e30ba" xsi:nil="true"/>
    <Nome_Comercial xmlns="2074a592-0284-4838-a99a-676a646e30ba" xsi:nil="true"/>
    <Disciplina xmlns="2074a592-0284-4838-a99a-676a646e30ba" xsi:nil="true"/>
    <Emailseler xmlns="2074a592-0284-4838-a99a-676a646e30ba" xsi:nil="true"/>
    <Status xmlns="2074a592-0284-4838-a99a-676a646e30ba">Liberado para disponibilização</Status>
    <TaxCatchAll xmlns="e20d8d4b-1949-445f-b54d-8717a3d10a21" xsi:nil="true"/>
    <Analista_Responsav_x00e9_l xmlns="2074a592-0284-4838-a99a-676a646e30ba" xsi:nil="true"/>
    <lcf76f155ced4ddcb4097134ff3c332f xmlns="2074a592-0284-4838-a99a-676a646e30ba">
      <Terms xmlns="http://schemas.microsoft.com/office/infopath/2007/PartnerControls"/>
    </lcf76f155ced4ddcb4097134ff3c332f>
    <Data_Recebimento xmlns="2074a592-0284-4838-a99a-676a646e30ba" xsi:nil="true"/>
    <Status_Entrega xmlns="2074a592-0284-4838-a99a-676a646e30ba" xsi:nil="true"/>
    <RatedBy xmlns="http://schemas.microsoft.com/sharepoint/v3">
      <UserInfo>
        <DisplayName/>
        <AccountId xsi:nil="true"/>
        <AccountType/>
      </UserInfo>
    </RatedBy>
  </documentManagement>
</p:properties>
</file>

<file path=customXml/itemProps1.xml><?xml version="1.0" encoding="utf-8"?>
<ds:datastoreItem xmlns:ds="http://schemas.openxmlformats.org/officeDocument/2006/customXml" ds:itemID="{5C531EC9-2072-4210-8C96-175144617C73}"/>
</file>

<file path=customXml/itemProps2.xml><?xml version="1.0" encoding="utf-8"?>
<ds:datastoreItem xmlns:ds="http://schemas.openxmlformats.org/officeDocument/2006/customXml" ds:itemID="{EBBD310F-C234-4F3A-BEE5-6114D19ECDA7}"/>
</file>

<file path=customXml/itemProps3.xml><?xml version="1.0" encoding="utf-8"?>
<ds:datastoreItem xmlns:ds="http://schemas.openxmlformats.org/officeDocument/2006/customXml" ds:itemID="{0AD842AA-429A-495D-BBB7-5540F1B197B9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0x0101003C4BF2EB6E0AA3499D5D22DB6C773100</vt:lpwstr>
  </property>
</Properties>
</file>